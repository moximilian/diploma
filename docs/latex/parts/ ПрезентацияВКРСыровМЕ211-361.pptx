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039528" y="2001836"/>
            <a:ext cx="1008727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1039528" y="4129237"/>
            <a:ext cx="10087276" cy="1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Рисунок 3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529" y="-100001"/>
            <a:ext cx="3006014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исунок 6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6097" y="5654764"/>
            <a:ext cx="2860214" cy="16324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4555671" y="1224644"/>
            <a:ext cx="7740000" cy="1"/>
          </a:xfrm>
          <a:prstGeom prst="straightConnector1">
            <a:avLst/>
          </a:prstGeom>
          <a:noFill/>
          <a:ln cap="rnd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Рисунок 7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529" y="-100001"/>
            <a:ext cx="3006014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4555671" y="1224644"/>
            <a:ext cx="7740000" cy="1"/>
          </a:xfrm>
          <a:prstGeom prst="straightConnector1">
            <a:avLst/>
          </a:prstGeom>
          <a:noFill/>
          <a:ln cap="rnd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5580379"/>
            <a:ext cx="2844800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showMasterSp="0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Рисунок 9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5768" y="200819"/>
            <a:ext cx="1489159" cy="1053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10260531" y="1094014"/>
            <a:ext cx="1980001" cy="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10260531" y="1094014"/>
            <a:ext cx="1980001" cy="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959430"/>
            <a:ext cx="10281557" cy="3649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0080170" y="5446349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555171"/>
            <a:ext cx="8877300" cy="113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058778" y="1286227"/>
            <a:ext cx="10087277" cy="21596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058778" y="4165953"/>
            <a:ext cx="10087277" cy="1445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737600" y="5580379"/>
            <a:ext cx="2844800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9993083" y="5279775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555171"/>
            <a:ext cx="8877300" cy="113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199" y="1825625"/>
            <a:ext cx="5252357" cy="410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7" y="1992084"/>
            <a:ext cx="4205742" cy="512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Arial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5372100" y="1992084"/>
            <a:ext cx="4327072" cy="512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839787" y="365125"/>
            <a:ext cx="885938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838200" y="555171"/>
            <a:ext cx="8877300" cy="113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839787" y="457200"/>
            <a:ext cx="3932239" cy="15267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5166859" y="1281339"/>
            <a:ext cx="4898069" cy="458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sz="96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839787" y="457200"/>
            <a:ext cx="3932239" cy="15267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0"/>
          <p:cNvSpPr/>
          <p:nvPr>
            <p:ph idx="2" type="pic"/>
          </p:nvPr>
        </p:nvSpPr>
        <p:spPr>
          <a:xfrm>
            <a:off x="5183187" y="1273629"/>
            <a:ext cx="5823903" cy="4112089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839787" y="2057400"/>
            <a:ext cx="3932239" cy="33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Рисунок 9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25768" y="200819"/>
            <a:ext cx="1489159" cy="1053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7;p1"/>
          <p:cNvCxnSpPr/>
          <p:nvPr/>
        </p:nvCxnSpPr>
        <p:spPr>
          <a:xfrm>
            <a:off x="10260531" y="1094014"/>
            <a:ext cx="1980001" cy="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" name="Google Shape;8;p1"/>
          <p:cNvCxnSpPr/>
          <p:nvPr/>
        </p:nvCxnSpPr>
        <p:spPr>
          <a:xfrm>
            <a:off x="10260531" y="1094014"/>
            <a:ext cx="1980001" cy="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076357" y="5491304"/>
            <a:ext cx="1460263" cy="155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kT06fVbGXYeuOqzHOoh49ntn2Ve-dx10/view" TargetMode="External"/><Relationship Id="rId4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11"/>
          <p:cNvSpPr txBox="1"/>
          <p:nvPr/>
        </p:nvSpPr>
        <p:spPr>
          <a:xfrm>
            <a:off x="4113674" y="723037"/>
            <a:ext cx="8032606" cy="1488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 направлению 09.03.03 Прикладная информатика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(профиль) «Корпоративные информационные системы»</a:t>
            </a:r>
            <a:endParaRPr/>
          </a:p>
        </p:txBody>
      </p:sp>
      <p:sp>
        <p:nvSpPr>
          <p:cNvPr id="62" name="Google Shape;62;p11"/>
          <p:cNvSpPr txBox="1"/>
          <p:nvPr/>
        </p:nvSpPr>
        <p:spPr>
          <a:xfrm>
            <a:off x="122618" y="2951945"/>
            <a:ext cx="11795761" cy="955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ДЛЯ АДМИНИСТРИРОВАНИЯ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ГРУППОВЫХ ЗАНЯТИЙ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7419641" y="4597929"/>
            <a:ext cx="4130320" cy="1363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Студент: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группа 211-361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руководитель: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Васильев Денис Борисович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4827790" y="6353371"/>
            <a:ext cx="2158907" cy="33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Москва, 6 июня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11580452" y="6189843"/>
            <a:ext cx="330162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71" name="Google Shape;71;p12"/>
          <p:cNvSpPr txBox="1"/>
          <p:nvPr/>
        </p:nvSpPr>
        <p:spPr>
          <a:xfrm>
            <a:off x="353328" y="6232199"/>
            <a:ext cx="8343018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72" name="Google Shape;72;p12"/>
          <p:cNvSpPr txBox="1"/>
          <p:nvPr/>
        </p:nvSpPr>
        <p:spPr>
          <a:xfrm>
            <a:off x="385473" y="353565"/>
            <a:ext cx="4388282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Актуальность работы</a:t>
            </a:r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375336" y="1410168"/>
            <a:ext cx="10347259" cy="4003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В сегменте частного образования преподаватели и малые образовательные проекты сталкиваются с необходимостью ручного управления расписаниями, посещаемостью и платежами, при этом существующие LMS-системы часто оказываются избыточно сложными или требуют одновременного использования нескольких разрозненных сервисов. Это приводит к потере данных, дублированию операций и снижению эффективности работы.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Разрабатываемый сервис автоматизирует ключевые процессы администрирования учебного процесса — формирование расписаний, учет посещаемости, контроль платежей и управление группами — в единой интуитивно понятной платформе. Это снизит нагрузку на преподавателей и малые образовательные центры, обеспечив им удобный и специализированный инструмент вместо громоздких или фрагментированных решений.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3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1582400" y="6184900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83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B3838"/>
                </a:solidFill>
                <a:latin typeface="Arial"/>
                <a:ea typeface="Arial"/>
                <a:cs typeface="Arial"/>
                <a:sym typeface="Arial"/>
              </a:rPr>
              <a:t>Цели и задачи работы</a:t>
            </a: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                </a:t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672880" y="1148079"/>
            <a:ext cx="8582609" cy="42824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работы: Создание веб-приложения, которое объединит функции планирования, учета и финансового контроля, адаптированную под потребности преподавателей и частных образовательных учреждений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Задачи для достижения цели: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Изучить предметную область.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Провести анализ целевой аудитории.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Провести анализ конкурентов и аналогов.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Спроектировать и описать бизнес процессы.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Спроектировать структуру базы данных.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Спроектировать и разработать API.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Спроектировать пользовательский интерфейс.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Спроектировать и реализовать клиентское приложение.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Провести тестирование функционала.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Провести развертывание веб-приложения.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4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11582400" y="6184900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Целевая аудитория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355600" y="6235700"/>
            <a:ext cx="7542294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                 </a:t>
            </a:r>
            <a:endParaRPr/>
          </a:p>
        </p:txBody>
      </p:sp>
      <p:pic>
        <p:nvPicPr>
          <p:cNvPr descr="Diploma-Page-6.jp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9883" y="1560725"/>
            <a:ext cx="7542294" cy="37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73100" y="1582638"/>
            <a:ext cx="3932084" cy="1209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Демографические признаки.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Техническая подготовка.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Опыт работы.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Потребности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15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11582400" y="6191016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Аналоги и конкуренты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355600" y="6241022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вставленный-фильм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1827" y="1540912"/>
            <a:ext cx="2700010" cy="141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2452" y="3569689"/>
            <a:ext cx="5843654" cy="165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9438" y="1540912"/>
            <a:ext cx="2497724" cy="33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6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11577307" y="6191016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Анализ бизнес-процессов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bpmn_grpups.jp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231" y="1283652"/>
            <a:ext cx="8653406" cy="3745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653501" y="5162768"/>
            <a:ext cx="6698715" cy="370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Процесс вступления ученика в группу в нотации BPMN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7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11577307" y="6191016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Функционал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254852" y="5834067"/>
            <a:ext cx="4924052" cy="370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Диаграмма функционала в нотации UML</a:t>
            </a:r>
            <a:endParaRPr/>
          </a:p>
        </p:txBody>
      </p:sp>
      <p:pic>
        <p:nvPicPr>
          <p:cNvPr descr="Diploma-UML.drawio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981" y="1137275"/>
            <a:ext cx="10164394" cy="4659650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11585030" y="6189843"/>
            <a:ext cx="330162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384611" y="355600"/>
            <a:ext cx="11078500" cy="824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Программные и технические средства </a:t>
            </a:r>
            <a:endParaRPr/>
          </a:p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разработки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55600" y="6236732"/>
            <a:ext cx="10825285" cy="48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вставленный-фильм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100" y="1534596"/>
            <a:ext cx="1128078" cy="123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864" y="2985065"/>
            <a:ext cx="1200549" cy="123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4529" y="1326855"/>
            <a:ext cx="2272525" cy="1363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35" name="Google Shape;1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7813" y="2853456"/>
            <a:ext cx="914401" cy="91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36" name="Google Shape;13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80287" y="2836640"/>
            <a:ext cx="948033" cy="948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137" name="Google Shape;13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91327" y="1551412"/>
            <a:ext cx="2628284" cy="94803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64912" y="4708751"/>
            <a:ext cx="2099034" cy="370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Серверная часть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671275" y="4708751"/>
            <a:ext cx="2199827" cy="370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Клиентская часть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19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11577307" y="6191016"/>
            <a:ext cx="3301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Структура базы данных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DataBas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177" y="1023189"/>
            <a:ext cx="6793456" cy="4811622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  <p:sp>
        <p:nvSpPr>
          <p:cNvPr id="149" name="Google Shape;149;p19"/>
          <p:cNvSpPr txBox="1"/>
          <p:nvPr/>
        </p:nvSpPr>
        <p:spPr>
          <a:xfrm>
            <a:off x="7784880" y="5340450"/>
            <a:ext cx="3384350" cy="370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ЕR диаграмма базы данных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20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11577307" y="6191016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Серверная часть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вставленный-фильм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3480" y="566870"/>
            <a:ext cx="4085457" cy="55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53839" y="1586005"/>
            <a:ext cx="4810306" cy="204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45000 тыс. строк кода.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Хеширование паролей.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JWT токены авторизации.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Доступ только у авторизованных пользователей.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Проверка ролей.</a:t>
            </a:r>
            <a:endParaRPr/>
          </a:p>
          <a:p>
            <a:pPr indent="-240631" lvl="0" marL="24063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Валидация данных.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1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11577307" y="6191016"/>
            <a:ext cx="526217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Серверная часть, API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descr="Diploma-Слои backend.png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389" y="1660153"/>
            <a:ext cx="9672285" cy="3304866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inPage.jpg"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28472" r="28472" t="11725"/>
          <a:stretch/>
        </p:blipFill>
        <p:spPr>
          <a:xfrm>
            <a:off x="2842085" y="1616957"/>
            <a:ext cx="2233292" cy="2627465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  <p:cxnSp>
        <p:nvCxnSpPr>
          <p:cNvPr id="174" name="Google Shape;174;p2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11587760" y="6180315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381000" y="355600"/>
            <a:ext cx="7764349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Клиентское приложение</a:t>
            </a:r>
            <a:endParaRPr/>
          </a:p>
        </p:txBody>
      </p:sp>
      <p:pic>
        <p:nvPicPr>
          <p:cNvPr descr="Регистрация.png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35790" r="35791" t="0"/>
          <a:stretch/>
        </p:blipFill>
        <p:spPr>
          <a:xfrm>
            <a:off x="722628" y="1618409"/>
            <a:ext cx="1728784" cy="3421950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  <p:pic>
        <p:nvPicPr>
          <p:cNvPr descr="Мои группы.png" id="179" name="Google Shape;1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5970" y="1612059"/>
            <a:ext cx="6290977" cy="3795546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3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11587760" y="6180315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381000" y="355600"/>
            <a:ext cx="7764349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Клиентское приложение</a:t>
            </a:r>
            <a:endParaRPr/>
          </a:p>
        </p:txBody>
      </p:sp>
      <p:pic>
        <p:nvPicPr>
          <p:cNvPr descr="Редактирование группы.png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869" y="1290002"/>
            <a:ext cx="5403241" cy="3279636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  <p:pic>
        <p:nvPicPr>
          <p:cNvPr descr="Расписание_Неделя.png" id="189" name="Google Shape;189;p23"/>
          <p:cNvPicPr preferRelativeResize="0"/>
          <p:nvPr/>
        </p:nvPicPr>
        <p:blipFill rotWithShape="1">
          <a:blip r:embed="rId4">
            <a:alphaModFix/>
          </a:blip>
          <a:srcRect b="29404" l="254" r="0" t="0"/>
          <a:stretch/>
        </p:blipFill>
        <p:spPr>
          <a:xfrm>
            <a:off x="6007521" y="1290846"/>
            <a:ext cx="5513961" cy="4908142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24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11587760" y="6180315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381000" y="355600"/>
            <a:ext cx="7764349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Клиентское приложение</a:t>
            </a:r>
            <a:endParaRPr/>
          </a:p>
        </p:txBody>
      </p:sp>
      <p:pic>
        <p:nvPicPr>
          <p:cNvPr descr="Участники группы.png" id="198" name="Google Shape;1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849" y="1290002"/>
            <a:ext cx="5321860" cy="3230240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  <p:pic>
        <p:nvPicPr>
          <p:cNvPr descr="Заявки на вступление.png" id="199" name="Google Shape;1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619" y="1290002"/>
            <a:ext cx="6187910" cy="3755910"/>
          </a:xfrm>
          <a:prstGeom prst="rect">
            <a:avLst/>
          </a:prstGeom>
          <a:noFill/>
          <a:ln cap="flat" cmpd="sng" w="12700">
            <a:solidFill>
              <a:srgbClr val="000000">
                <a:alpha val="14901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25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25"/>
          <p:cNvSpPr txBox="1"/>
          <p:nvPr>
            <p:ph idx="12" type="sldNum"/>
          </p:nvPr>
        </p:nvSpPr>
        <p:spPr>
          <a:xfrm>
            <a:off x="11587760" y="6180315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381000" y="355600"/>
            <a:ext cx="7764349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</a:t>
            </a:r>
            <a:endParaRPr/>
          </a:p>
        </p:txBody>
      </p:sp>
      <p:pic>
        <p:nvPicPr>
          <p:cNvPr descr="вставленный-фильм.png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82" y="1084325"/>
            <a:ext cx="7998618" cy="532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26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11587760" y="6180315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215" name="Google Shape;215;p26"/>
          <p:cNvSpPr txBox="1"/>
          <p:nvPr/>
        </p:nvSpPr>
        <p:spPr>
          <a:xfrm>
            <a:off x="355600" y="6235700"/>
            <a:ext cx="10825285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381000" y="355600"/>
            <a:ext cx="7764349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Развертывание</a:t>
            </a:r>
            <a:endParaRPr/>
          </a:p>
        </p:txBody>
      </p:sp>
      <p:pic>
        <p:nvPicPr>
          <p:cNvPr descr="вставленный-фильм.png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9417" y="3813902"/>
            <a:ext cx="1960269" cy="1621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218" name="Google Shape;2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814" y="1554122"/>
            <a:ext cx="3375745" cy="1621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219" name="Google Shape;219;p26"/>
          <p:cNvPicPr preferRelativeResize="0"/>
          <p:nvPr/>
        </p:nvPicPr>
        <p:blipFill rotWithShape="1">
          <a:blip r:embed="rId5">
            <a:alphaModFix/>
          </a:blip>
          <a:srcRect b="0" l="21892" r="25836" t="0"/>
          <a:stretch/>
        </p:blipFill>
        <p:spPr>
          <a:xfrm>
            <a:off x="6804589" y="1283652"/>
            <a:ext cx="2486010" cy="270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220" name="Google Shape;22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782314">
            <a:off x="3425078" y="2580810"/>
            <a:ext cx="1911838" cy="74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27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11582400" y="6182542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350867" y="6238068"/>
            <a:ext cx="10825286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673100" y="1427479"/>
            <a:ext cx="8187486" cy="3723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рамках ВКР поставленная цель была достигнута.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Были выполнены следующие задачи: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Изучить предметную область.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Провести анализ целевой аудитории.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Провести анализ конкурентов и аналогов.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Спроектировать и описать бизнес процессы.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Спроектировать структуру базы данных.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Спроектировать и разработать API.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Спроектировать пользовательский интерфейс.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Спроектировать и реализовать клиентское приложение.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Провести тестирование функционала.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Провести развертывание веб-приложения.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11582400" y="6182542"/>
            <a:ext cx="556181" cy="57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None/>
            </a:pPr>
            <a:fld id="{00000000-1234-1234-1234-123412341234}" type="slidenum">
              <a:rPr lang="en-US" sz="3200"/>
              <a:t>‹#›</a:t>
            </a:fld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381000" y="355600"/>
            <a:ext cx="529009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Демонстрация работы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350867" y="6238068"/>
            <a:ext cx="10825286" cy="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 211-361,  06.06.2025</a:t>
            </a:r>
            <a:endParaRPr/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АДМИНИСТРИРОВАНИЯ ГРУППОВЫХ ЗАНЯТИЙ                  </a:t>
            </a:r>
            <a:endParaRPr/>
          </a:p>
        </p:txBody>
      </p:sp>
      <p:pic>
        <p:nvPicPr>
          <p:cNvPr id="238" name="Google Shape;238;p28" title="Демонстрация ВКР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234440"/>
            <a:ext cx="9228916" cy="500362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29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4" name="Google Shape;244;p29"/>
          <p:cNvSpPr txBox="1"/>
          <p:nvPr>
            <p:ph idx="4294967295" type="ctrTitle"/>
          </p:nvPr>
        </p:nvSpPr>
        <p:spPr>
          <a:xfrm>
            <a:off x="5355687" y="705941"/>
            <a:ext cx="12502192" cy="428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8"/>
              <a:buFont typeface="Arial"/>
              <a:buNone/>
            </a:pPr>
            <a:r>
              <a:rPr b="0" i="0" lang="en-US" sz="22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 п а с и б о    з а   в н и м а н и е ! 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7132982" y="4348562"/>
            <a:ext cx="4298099" cy="1363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Студент: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Сыров Максим Евгеньевич,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группа 211-361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руководитель: </a:t>
            </a:r>
            <a:endParaRPr/>
          </a:p>
          <a:p>
            <a:pPr indent="0" lvl="0" marL="0" marR="0" rt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Васильев Денис Борисович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4830788" y="6353164"/>
            <a:ext cx="2214323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Москва, 6 июня 2025</a:t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-277410" y="2951945"/>
            <a:ext cx="12502191" cy="955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ВЕБ-ПРИЛОЖЕНИЯ ДЛЯ АДМИНИСТРИРОВАНИЯ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ГРУППОВЫХ ЗАНЯТИЙ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2">
  <a:themeElements>
    <a:clrScheme name="Тема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2">
  <a:themeElements>
    <a:clrScheme name="Тема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